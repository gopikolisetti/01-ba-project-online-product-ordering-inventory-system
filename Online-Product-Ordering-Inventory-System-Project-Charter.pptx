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73" r:id="rId5"/>
    <p:sldId id="277" r:id="rId6"/>
    <p:sldId id="284" r:id="rId7"/>
    <p:sldId id="285" r:id="rId8"/>
    <p:sldId id="281" r:id="rId9"/>
    <p:sldId id="286" r:id="rId10"/>
    <p:sldId id="283" r:id="rId11"/>
    <p:sldId id="287" r:id="rId12"/>
    <p:sldId id="288" r:id="rId13"/>
    <p:sldId id="282" r:id="rId14"/>
    <p:sldId id="290" r:id="rId15"/>
    <p:sldId id="291" r:id="rId16"/>
    <p:sldId id="292" r:id="rId17"/>
    <p:sldId id="278" r:id="rId18"/>
    <p:sldId id="274" r:id="rId1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B1BD48-0EEE-405A-B893-88207AD1BDB5}" v="16" dt="2025-12-03T03:58:35.2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82"/>
    <p:restoredTop sz="96327"/>
  </p:normalViewPr>
  <p:slideViewPr>
    <p:cSldViewPr snapToGrid="0">
      <p:cViewPr varScale="1">
        <p:scale>
          <a:sx n="56" d="100"/>
          <a:sy n="56" d="100"/>
        </p:scale>
        <p:origin x="932" y="44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B30D67-EB7C-4323-A6AB-20071C4FCC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6DD94-0E47-FE33-5C0F-9E497B99BE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33F7E-3633-4FA3-974D-CA21FB24834F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36FF0-1B83-FCD7-197D-6F6CBEA8F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88305-7C09-5A95-A84B-C7CEA8D00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82836-E43C-41FF-A11B-3D8AB6E68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81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8/18/2026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9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73130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F53B3-F5B4-E310-A253-42A9B6708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C1CB5-0450-427A-6032-409AEA71D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0D81D-12E9-FDA2-537C-90B1A458D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02948-E343-42E3-5EC4-6B0BCB1E9F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7829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2A9BC-4B24-DC40-FAEE-E1922D5E2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7628B-B246-A504-0954-ACA80D76F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7A2AD4-59EC-CE58-94BC-1D0BB9457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4A1D4-B531-3D14-E2ED-4CAD2EF40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34947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C28C00-D101-DFF8-7E0A-1AEBF0DB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4B432-06C2-E932-E96F-67CECC2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493B1-79A4-1FA9-B462-853856DE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64F27-6C3B-1E36-B1DC-ECB72DCF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8599" y="2232635"/>
            <a:ext cx="10785420" cy="1200878"/>
          </a:xfrm>
        </p:spPr>
        <p:txBody>
          <a:bodyPr>
            <a:normAutofit fontScale="90000"/>
          </a:bodyPr>
          <a:lstStyle/>
          <a:p>
            <a:r>
              <a:rPr lang="en-US" sz="2500" b="1" dirty="0">
                <a:ea typeface="+mj-lt"/>
                <a:cs typeface="+mj-lt"/>
              </a:rPr>
              <a:t>Project Title:</a:t>
            </a:r>
            <a:r>
              <a:rPr lang="en-US" sz="2500" dirty="0">
                <a:ea typeface="+mj-lt"/>
                <a:cs typeface="+mj-lt"/>
              </a:rPr>
              <a:t> Online Product Ordering and Inventory System</a:t>
            </a:r>
            <a:br>
              <a:rPr lang="en-US" sz="2500" dirty="0">
                <a:ea typeface="+mj-lt"/>
                <a:cs typeface="+mj-lt"/>
              </a:rPr>
            </a:br>
            <a:br>
              <a:rPr lang="en-US" sz="3000" dirty="0">
                <a:ea typeface="+mj-lt"/>
                <a:cs typeface="+mj-lt"/>
              </a:rPr>
            </a:br>
            <a:r>
              <a:rPr lang="en-US" sz="2300" b="1" dirty="0">
                <a:ea typeface="+mj-lt"/>
                <a:cs typeface="+mj-lt"/>
              </a:rPr>
              <a:t>Prepared By:</a:t>
            </a:r>
            <a:r>
              <a:rPr lang="en-US" sz="2300" dirty="0">
                <a:ea typeface="+mj-lt"/>
                <a:cs typeface="+mj-lt"/>
              </a:rPr>
              <a:t> Kolisetti Gopi Chandu</a:t>
            </a:r>
            <a:br>
              <a:rPr lang="en-US" sz="2300" dirty="0">
                <a:ea typeface="+mj-lt"/>
                <a:cs typeface="+mj-lt"/>
              </a:rPr>
            </a:br>
            <a:br>
              <a:rPr lang="en-US" sz="2300" dirty="0">
                <a:ea typeface="+mj-lt"/>
                <a:cs typeface="+mj-lt"/>
              </a:rPr>
            </a:br>
            <a:r>
              <a:rPr lang="en-US" sz="2300" b="1" dirty="0">
                <a:ea typeface="+mj-lt"/>
                <a:cs typeface="+mj-lt"/>
              </a:rPr>
              <a:t>Date:</a:t>
            </a:r>
            <a:r>
              <a:rPr lang="en-US" sz="2300" dirty="0">
                <a:ea typeface="+mj-lt"/>
                <a:cs typeface="+mj-lt"/>
              </a:rPr>
              <a:t> 09 DECEMBER 2025</a:t>
            </a:r>
            <a:endParaRPr lang="en-US" sz="3000" dirty="0">
              <a:cs typeface="Arial"/>
            </a:endParaRP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6928" y="3036308"/>
            <a:ext cx="5486400" cy="384048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Situation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F4D35-9BD6-00FC-A23D-DCE50F2F20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6865D3-E9E5-FDDD-B091-FE6F9039C6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1" y="2976844"/>
            <a:ext cx="11437994" cy="258956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The business currently operates only through offline retail sales. Customers visit the store physically to purchase products.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Inventory is tracked manually using registers or spreadsheets.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As the customer base grows, this manual process leads to inefficiencies and difficulty in tracking real-time stock or customer demand.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56E37-EBC6-5F8E-D81C-944C0BC75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2FC6C-D812-4C67-EEF4-71DFC370C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Problem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F5755E8-F448-0B01-9EF5-6D4976BB0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5CA63F-6066-6AA7-176E-42A1A991E7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D52DB7-3378-7565-742B-A882181DA1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7760" y="3098451"/>
            <a:ext cx="10113863" cy="2594652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100" b="1" dirty="0"/>
              <a:t>No online platform for customers to order from.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100" b="1" dirty="0"/>
              <a:t>Manual stock management leads to inventory mismatch and delays.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100" b="1" dirty="0"/>
              <a:t>Limited reach since customers must visit the store physically.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100" b="1" dirty="0"/>
              <a:t>Slow order processing and billing due to manual work.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100" b="1" dirty="0"/>
              <a:t>No automated stock alerts or real-time tracking.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E5CFBEC-8228-A71C-BE42-49645EAC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46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5F306-4656-C5B6-C138-D1B5283D9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500A-4EAB-8AC8-682A-C8E39EED0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Opportunity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A525D29-2BD8-14BF-BDAF-562F27CBE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79948-1DD4-BAE6-93E8-D023063C21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94398A-3087-BCEE-FFAD-356844C944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3504" y="2819510"/>
            <a:ext cx="11363043" cy="34555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100" b="1" dirty="0"/>
              <a:t>Implementing an e-commerce website with automated inventory management can: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Expand customer reach beyond physical location.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Provide home delivery and online shopping convenience.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Improve stock accuracy through system-controlled inventory updates.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Reduce manual labor and speed up the order-to-delivery cycle.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Support future scalability like multi-location inventory and promotions</a:t>
            </a:r>
            <a:r>
              <a:rPr lang="en-US" sz="2100" dirty="0"/>
              <a:t>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3F2FCCB-AD4E-5F04-20B7-52BEEEF6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58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9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35" y="903695"/>
            <a:ext cx="9221783" cy="80830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5000" dirty="0">
                <a:solidFill>
                  <a:srgbClr val="3B4546"/>
                </a:solidFill>
              </a:rPr>
              <a:t>Purpose Statement(Goals)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FC4DAD-8F22-40DC-8133-22BF5221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272" y="6217920"/>
            <a:ext cx="640080" cy="64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5BFCF61C-3B18-4C03-8326-CC3B32D710C9}" type="slidenum">
              <a:rPr lang="en-US" sz="1600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5</a:t>
            </a:fld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772F34-B0BB-56BA-46C3-0289D41DA08E}"/>
              </a:ext>
            </a:extLst>
          </p:cNvPr>
          <p:cNvSpPr txBox="1"/>
          <p:nvPr/>
        </p:nvSpPr>
        <p:spPr>
          <a:xfrm>
            <a:off x="772968" y="2287049"/>
            <a:ext cx="1064301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rtl="0"/>
            <a:endParaRPr lang="en-US" sz="21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r>
              <a:rPr lang="en-US" sz="2100" dirty="0">
                <a:latin typeface="Arial"/>
                <a:ea typeface="Arial"/>
                <a:cs typeface="Arial"/>
              </a:rPr>
              <a:t>​</a:t>
            </a:r>
            <a:r>
              <a:rPr lang="en-US" sz="2100" b="1" dirty="0">
                <a:solidFill>
                  <a:srgbClr val="3B4546"/>
                </a:solidFill>
                <a:latin typeface="Arial"/>
                <a:cs typeface="Arial"/>
              </a:rPr>
              <a:t>The purpose of this project is to create a complete online ordering system and automated inventory management solution that enables customers to purchase products online, improves stock tracking accuracy, and enhances operational efficiency.</a:t>
            </a:r>
          </a:p>
          <a:p>
            <a:pPr marL="283210" indent="-283210">
              <a:buFont typeface="Wingdings"/>
              <a:buChar char="Ø"/>
            </a:pPr>
            <a:endParaRPr lang="en-US" sz="21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152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6642E-45E3-DDB1-567A-5F48105F5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 Fill">
            <a:extLst>
              <a:ext uri="{FF2B5EF4-FFF2-40B4-BE49-F238E27FC236}">
                <a16:creationId xmlns:a16="http://schemas.microsoft.com/office/drawing/2014/main" id="{B14FFEC4-3BAD-1A45-5D95-0644361C3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E2883F-C70E-77CA-63CC-F4549201A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9" name="Color">
              <a:extLst>
                <a:ext uri="{FF2B5EF4-FFF2-40B4-BE49-F238E27FC236}">
                  <a16:creationId xmlns:a16="http://schemas.microsoft.com/office/drawing/2014/main" id="{AEC43102-637F-01CD-5671-77D4440C8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Color">
              <a:extLst>
                <a:ext uri="{FF2B5EF4-FFF2-40B4-BE49-F238E27FC236}">
                  <a16:creationId xmlns:a16="http://schemas.microsoft.com/office/drawing/2014/main" id="{DC537ACD-D59E-23EF-7805-DAE251A86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C824C37-90E9-67B4-7346-C14E420D9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A8152E2-7FC2-D3EB-1A8E-B61ABA335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C0717F0-F90E-F3C3-9AB3-032F9F6E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A1149AC-078E-95D6-CCA7-69955B49D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A4FA477-9965-D703-A7A8-589D133C46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FD9890C-578A-5964-71C1-D2C08F4F4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71FA2F3-643A-EAF2-A25C-70BA836A4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0F49FF4-5C5B-DC21-90AD-F82547722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4608EC4-D5D6-D51B-B8CB-58CCEF09D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53" y="204154"/>
            <a:ext cx="9221783" cy="8083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Objectives</a:t>
            </a:r>
            <a:endParaRPr lang="en-US" sz="4800" kern="12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D63B69-5642-C280-FF93-FC10A5A0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272" y="6217920"/>
            <a:ext cx="640080" cy="64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5BFCF61C-3B18-4C03-8326-CC3B32D710C9}" type="slidenum">
              <a:rPr lang="en-US" sz="1600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6</a:t>
            </a:fld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D7AB4-3BB5-9684-9F85-E9635D707007}"/>
              </a:ext>
            </a:extLst>
          </p:cNvPr>
          <p:cNvSpPr txBox="1"/>
          <p:nvPr/>
        </p:nvSpPr>
        <p:spPr>
          <a:xfrm>
            <a:off x="733237" y="1593381"/>
            <a:ext cx="10589641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Implement an online ordering system allowing customers to browse, order, and pay for products.</a:t>
            </a:r>
            <a:endParaRPr lang="en-US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342900" indent="-342900">
              <a:buFont typeface="Wingdings"/>
              <a:buChar char="Ø"/>
            </a:pPr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Develop a centralized inventory management system that updates in real time.</a:t>
            </a:r>
            <a:endParaRPr lang="en-US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342900" indent="-342900">
              <a:buFont typeface="Wingdings"/>
              <a:buChar char="Ø"/>
            </a:pPr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Automate stock alerts and supplier notifications for low inventory.</a:t>
            </a:r>
            <a:endParaRPr lang="en-US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342900" indent="-342900">
              <a:buFont typeface="Wingdings"/>
              <a:buChar char="Ø"/>
            </a:pPr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Provide management dashboards to monitor sales, stock levels, and performance metrics.</a:t>
            </a:r>
            <a:endParaRPr lang="en-US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342900" indent="-342900">
              <a:buFont typeface="Wingdings"/>
              <a:buChar char="Ø"/>
            </a:pPr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Ensure a secure, user-friendly interface with seamless order tracking and payment integration.</a:t>
            </a:r>
            <a:endParaRPr lang="en-US" sz="2100" b="1">
              <a:solidFill>
                <a:srgbClr val="3B4546"/>
              </a:solidFill>
              <a:latin typeface="Arial"/>
              <a:cs typeface="Arial"/>
            </a:endParaRPr>
          </a:p>
          <a:p>
            <a:pPr algn="l"/>
            <a:endParaRPr lang="en-GB" sz="3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1159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33967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" name="Freeform: Shape 17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62C85805-79DB-07ED-6BDE-11B8962D46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3000" y="1676400"/>
            <a:ext cx="381000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Success Criteria</a:t>
            </a:r>
            <a:b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EA3CB1-AF25-EA4C-A297-4DDC6E0E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00800"/>
            <a:ext cx="7010400" cy="457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endParaRPr lang="en-US" sz="900" kern="1200" dirty="0">
              <a:solidFill>
                <a:srgbClr val="000000">
                  <a:alpha val="70000"/>
                </a:srgb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E68DE-3756-7E72-3F5A-34338BB3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685800" cy="457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BFCF61C-3B18-4C03-8326-CC3B32D710C9}" type="slidenum">
              <a:rPr lang="en-US" sz="1000">
                <a:solidFill>
                  <a:srgbClr val="000000">
                    <a:alpha val="70000"/>
                  </a:srgb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00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9D213-1E3C-235E-3F2C-7026AB609F9D}"/>
              </a:ext>
            </a:extLst>
          </p:cNvPr>
          <p:cNvSpPr txBox="1"/>
          <p:nvPr/>
        </p:nvSpPr>
        <p:spPr>
          <a:xfrm>
            <a:off x="388167" y="575101"/>
            <a:ext cx="714846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800" cap="all" dirty="0">
                <a:latin typeface="+mj-lt"/>
                <a:ea typeface="+mj-ea"/>
                <a:cs typeface="+mj-cs"/>
              </a:rPr>
              <a:t>Success Criteria</a:t>
            </a:r>
            <a:endParaRPr lang="en-US" sz="4800" cap="all" dirty="0"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BE367EE-C535-937C-1696-E78845D2A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977" y="2414900"/>
            <a:ext cx="10794045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100" b="1" dirty="0">
                <a:solidFill>
                  <a:srgbClr val="3B4546"/>
                </a:solidFill>
                <a:latin typeface="Arial"/>
                <a:cs typeface="Arial"/>
              </a:rPr>
              <a:t>Website launched and accessible to customers.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100" b="1" dirty="0">
                <a:solidFill>
                  <a:srgbClr val="3B4546"/>
                </a:solidFill>
                <a:latin typeface="Arial"/>
                <a:cs typeface="Arial"/>
              </a:rPr>
              <a:t>Customers can successfully register, browse, order, and make payments online.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100" b="1" dirty="0">
                <a:solidFill>
                  <a:srgbClr val="3B4546"/>
                </a:solidFill>
                <a:latin typeface="Arial"/>
                <a:cs typeface="Arial"/>
              </a:rPr>
              <a:t>Inventory accuracy improved to 95% or more after implementation.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100" b="1" dirty="0">
                <a:solidFill>
                  <a:srgbClr val="3B4546"/>
                </a:solidFill>
                <a:latin typeface="Arial"/>
                <a:cs typeface="Arial"/>
              </a:rPr>
              <a:t>Automated low-stock alerts working correctly.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100" b="1" dirty="0">
                <a:solidFill>
                  <a:srgbClr val="3B4546"/>
                </a:solidFill>
                <a:latin typeface="Arial"/>
                <a:cs typeface="Arial"/>
              </a:rPr>
              <a:t>Order fulfillment time reduced compared to manual process.</a:t>
            </a:r>
          </a:p>
        </p:txBody>
      </p:sp>
    </p:spTree>
    <p:extLst>
      <p:ext uri="{BB962C8B-B14F-4D97-AF65-F5344CB8AC3E}">
        <p14:creationId xmlns:p14="http://schemas.microsoft.com/office/powerpoint/2010/main" val="476614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A8D37-B139-6BDE-AE80-785DEE151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 Fill">
            <a:extLst>
              <a:ext uri="{FF2B5EF4-FFF2-40B4-BE49-F238E27FC236}">
                <a16:creationId xmlns:a16="http://schemas.microsoft.com/office/drawing/2014/main" id="{3AC6F56F-82FE-CB9B-C4E0-AEF737BC0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36BE01-DC47-8404-3C91-AF8FFD953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9" name="Color">
              <a:extLst>
                <a:ext uri="{FF2B5EF4-FFF2-40B4-BE49-F238E27FC236}">
                  <a16:creationId xmlns:a16="http://schemas.microsoft.com/office/drawing/2014/main" id="{621D517B-1137-944A-7379-023330AB5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Color">
              <a:extLst>
                <a:ext uri="{FF2B5EF4-FFF2-40B4-BE49-F238E27FC236}">
                  <a16:creationId xmlns:a16="http://schemas.microsoft.com/office/drawing/2014/main" id="{0E34E6F0-A414-920D-842F-BD3C9DBA9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ABE836-9F23-1273-A075-716284F41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F83853-B4F0-5199-F0DC-99395D037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D7F33CC-163C-D41B-90A1-B0B908EC8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8F071F8-B97C-D7A6-5BD2-52639B317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F47031-CDBC-7A81-3D98-D2310F625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F1BDA88-3A63-228E-9B07-5E9083C1B6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8CD6683-8E15-12C7-6140-B297D61DC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2B7FF22-38B3-14CD-C075-B310B0598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E790FB3-7481-CA4C-024C-9E957FBC5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53" y="204154"/>
            <a:ext cx="9221783" cy="8083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000" dirty="0">
                <a:solidFill>
                  <a:schemeClr val="tx1"/>
                </a:solidFill>
              </a:rPr>
              <a:t>Methods/Approach</a:t>
            </a:r>
            <a:r>
              <a:rPr lang="en-US" sz="5000" dirty="0">
                <a:solidFill>
                  <a:srgbClr val="FFFFFF"/>
                </a:solidFill>
              </a:rPr>
              <a:t>:</a:t>
            </a:r>
            <a:endParaRPr lang="en-US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478A9A5-7414-CE58-26F7-6AEA426C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272" y="6217920"/>
            <a:ext cx="640080" cy="64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5BFCF61C-3B18-4C03-8326-CC3B32D710C9}" type="slidenum">
              <a:rPr lang="en-US" sz="1600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8</a:t>
            </a:fld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773BD-CE04-C5BA-85CB-29DE025C2452}"/>
              </a:ext>
            </a:extLst>
          </p:cNvPr>
          <p:cNvSpPr txBox="1"/>
          <p:nvPr/>
        </p:nvSpPr>
        <p:spPr>
          <a:xfrm>
            <a:off x="271040" y="1293578"/>
            <a:ext cx="11926264" cy="5539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 algn="just">
              <a:buFont typeface=""/>
              <a:buNone/>
            </a:pPr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The project follows the Waterfall model, where each phase is completed sequentially to ensure clarity, accuracy, and quality at every stage. The approach ensures that requirements are fully </a:t>
            </a:r>
            <a:r>
              <a:rPr lang="en-GB" sz="2100" b="1" dirty="0" err="1">
                <a:solidFill>
                  <a:srgbClr val="3B4546"/>
                </a:solidFill>
                <a:latin typeface="Arial"/>
                <a:cs typeface="Arial"/>
              </a:rPr>
              <a:t>analyzed</a:t>
            </a:r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 and documented before design and development begin.</a:t>
            </a:r>
            <a:endParaRPr lang="en-US" sz="2100" dirty="0">
              <a:cs typeface="Arial"/>
            </a:endParaRPr>
          </a:p>
          <a:p>
            <a:pPr lvl="1" algn="just">
              <a:buFont typeface=""/>
            </a:pPr>
            <a:endParaRPr lang="en-GB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1.Requirement Gathering and Analysis:</a:t>
            </a:r>
          </a:p>
          <a:p>
            <a:pPr marL="228600" indent="-228600">
              <a:buFont typeface=""/>
              <a:buChar char="•"/>
            </a:pPr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Conducted detailed interviews and workshops with stakeholders including customers, store managers, and suppliers.</a:t>
            </a:r>
          </a:p>
          <a:p>
            <a:pPr marL="228600" indent="-228600">
              <a:buFont typeface=""/>
              <a:buChar char="•"/>
            </a:pPr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Collected both functional and non-functional requirements and documented them in a Business Requirement Document (BRD) and System Requirement Specification (SRS).</a:t>
            </a:r>
          </a:p>
          <a:p>
            <a:pPr marL="228600" indent="-228600">
              <a:buFont typeface=""/>
              <a:buChar char="•"/>
            </a:pPr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Defined clear business rules, workflows, and data requirements for the ordering and inventory process.</a:t>
            </a:r>
          </a:p>
          <a:p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2.System Design:</a:t>
            </a:r>
          </a:p>
          <a:p>
            <a:pPr marL="228600" indent="-228600">
              <a:buFont typeface=""/>
              <a:buChar char="•"/>
            </a:pPr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Created process flow diagrams, ER diagrams, and use case diagrams to define the system’s structure.</a:t>
            </a:r>
          </a:p>
          <a:p>
            <a:pPr marL="228600" indent="-228600">
              <a:buFont typeface=""/>
              <a:buChar char="•"/>
            </a:pPr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Designed the UI/UX prototypes emphasizing a user-friendly and responsive interface.</a:t>
            </a:r>
          </a:p>
          <a:p>
            <a:pPr marL="228600" indent="-228600">
              <a:buFont typeface=""/>
              <a:buChar char="•"/>
            </a:pPr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Established database schema and architecture for product, order, and inventory modules.</a:t>
            </a:r>
          </a:p>
          <a:p>
            <a:endParaRPr lang="en-GB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2338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D1076F-4418-2378-85D6-6BCB24F0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 Fill">
            <a:extLst>
              <a:ext uri="{FF2B5EF4-FFF2-40B4-BE49-F238E27FC236}">
                <a16:creationId xmlns:a16="http://schemas.microsoft.com/office/drawing/2014/main" id="{43E871C1-F7F9-B012-C2D4-082B4F862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B8CBE63-0B11-3ABE-837C-DEC7110D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9" name="Color">
              <a:extLst>
                <a:ext uri="{FF2B5EF4-FFF2-40B4-BE49-F238E27FC236}">
                  <a16:creationId xmlns:a16="http://schemas.microsoft.com/office/drawing/2014/main" id="{7FE39ABB-8E56-93BE-1561-A85D81C69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Color">
              <a:extLst>
                <a:ext uri="{FF2B5EF4-FFF2-40B4-BE49-F238E27FC236}">
                  <a16:creationId xmlns:a16="http://schemas.microsoft.com/office/drawing/2014/main" id="{268A3B18-8E07-5057-B886-CA14CD5CC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223B91D-198B-7CF3-FB5E-B5827725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7FB7D77-D1A2-E819-DD18-D53834B2D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3475AD3-CF5D-E757-DDA0-F86D3BD53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3259122-F003-6F98-F471-17D98CA5C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35AE4F5-FCD2-0E1B-C16F-1D35A51CD8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E534E56-F80E-50AF-2972-E6F389BEA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5176FDC-212A-5FFD-7D77-B5380FC4BB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7162973-FDE1-4311-16D2-76161FE0B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E99B9A-E37C-BF98-7091-2F9B5925C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749" y="-59637"/>
            <a:ext cx="9221783" cy="8083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000" dirty="0">
                <a:solidFill>
                  <a:schemeClr val="tx1"/>
                </a:solidFill>
              </a:rPr>
              <a:t>Methods/Approach</a:t>
            </a:r>
            <a:r>
              <a:rPr lang="en-US" sz="5000" dirty="0">
                <a:solidFill>
                  <a:srgbClr val="FFFFFF"/>
                </a:solidFill>
              </a:rPr>
              <a:t>:</a:t>
            </a:r>
            <a:endParaRPr lang="en-US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7B4CAB8-692E-5AA9-ACD3-BF64CA2F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272" y="6217920"/>
            <a:ext cx="640080" cy="64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5BFCF61C-3B18-4C03-8326-CC3B32D710C9}" type="slidenum">
              <a:rPr lang="en-US" sz="1600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9</a:t>
            </a:fld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BC8D3-7119-24AF-D2A3-6C85338A24B1}"/>
              </a:ext>
            </a:extLst>
          </p:cNvPr>
          <p:cNvSpPr txBox="1"/>
          <p:nvPr/>
        </p:nvSpPr>
        <p:spPr>
          <a:xfrm>
            <a:off x="-25002" y="625525"/>
            <a:ext cx="11893314" cy="62324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/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3.Development:</a:t>
            </a:r>
            <a:endParaRPr lang="en-US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457200" indent="-228600"/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The development team built the system modules — User Management, Product </a:t>
            </a:r>
            <a:r>
              <a:rPr lang="en-GB" sz="2100" b="1" dirty="0" err="1">
                <a:solidFill>
                  <a:srgbClr val="3B4546"/>
                </a:solidFill>
                <a:latin typeface="Arial"/>
                <a:cs typeface="Arial"/>
              </a:rPr>
              <a:t>Catalog</a:t>
            </a:r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, Shopping Cart, Payment Gateway, and Inventory Tracking — according to approved specifications.</a:t>
            </a:r>
          </a:p>
          <a:p>
            <a:pPr marL="457200" indent="-228600"/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 Business Analyst supported the developers by clarifying requirements and validating interim outputs.</a:t>
            </a:r>
            <a:endParaRPr lang="en-US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457200" indent="-228600"/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4.Testing:</a:t>
            </a:r>
            <a:endParaRPr lang="en-US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457200" indent="-228600"/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Performed unit testing, system integration testing, and user acceptance testing (UAT) to ensure compliance with business and technical requirements.</a:t>
            </a:r>
            <a:endParaRPr lang="en-US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457200" indent="-228600"/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Documented defects and coordinated with developers to ensure timely fixes.</a:t>
            </a:r>
            <a:endParaRPr lang="en-US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457200" indent="-228600"/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5.Deployment:</a:t>
            </a:r>
            <a:endParaRPr lang="en-US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457200" indent="-228600"/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After successful testing and approval, the solution was deployed in the production environment.</a:t>
            </a:r>
            <a:endParaRPr lang="en-US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457200" indent="-228600"/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Conducted user training sessions and developed a user manual for system operations.</a:t>
            </a:r>
            <a:endParaRPr lang="en-US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457200" indent="-228600"/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6.Maintenance:</a:t>
            </a:r>
            <a:endParaRPr lang="en-US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457200" indent="-228600"/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Post-implementation monitoring of the system performance, order accuracy, and user feedback.</a:t>
            </a:r>
            <a:endParaRPr lang="en-US" sz="21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457200" indent="-228600"/>
            <a:r>
              <a:rPr lang="en-GB" sz="2100" b="1" dirty="0">
                <a:solidFill>
                  <a:srgbClr val="3B4546"/>
                </a:solidFill>
                <a:latin typeface="Arial"/>
                <a:cs typeface="Arial"/>
              </a:rPr>
              <a:t>Scheduled periodic maintenance and version upgrades to enhance features and fix issues.</a:t>
            </a:r>
          </a:p>
        </p:txBody>
      </p:sp>
    </p:spTree>
    <p:extLst>
      <p:ext uri="{BB962C8B-B14F-4D97-AF65-F5344CB8AC3E}">
        <p14:creationId xmlns:p14="http://schemas.microsoft.com/office/powerpoint/2010/main" val="95493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10AA-DDBA-D5A2-A34D-69E216713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931" y="751007"/>
            <a:ext cx="7498080" cy="704088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Resources: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9C9137C-4C2A-3985-8399-B6159A8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1757D-D960-563E-13D7-10BC6A0412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183" y="1922489"/>
            <a:ext cx="4828032" cy="4905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/>
              <a:t>People</a:t>
            </a:r>
            <a:endParaRPr lang="en-PK" sz="32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E1F326-65DA-D1D2-BADE-C228E0696D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2226" y="2596627"/>
            <a:ext cx="12401579" cy="4360538"/>
          </a:xfrm>
        </p:spPr>
        <p:txBody>
          <a:bodyPr vert="horz" lIns="91440" tIns="45720" rIns="91440" bIns="45720" numCol="2" spcCol="91440" rtlCol="0" anchor="t">
            <a:no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3B4546"/>
                </a:solidFill>
                <a:latin typeface="Arial"/>
                <a:cs typeface="Arial"/>
              </a:rPr>
              <a:t>Mr. Ramesh Iyer – Project Sponsor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3B4546"/>
                </a:solidFill>
                <a:latin typeface="Arial"/>
                <a:cs typeface="Arial"/>
              </a:rPr>
              <a:t>Ms. Neha Sharma – Project Manager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3B4546"/>
                </a:solidFill>
                <a:latin typeface="Arial"/>
                <a:cs typeface="Arial"/>
              </a:rPr>
              <a:t>Mr. Gopi </a:t>
            </a:r>
            <a:r>
              <a:rPr lang="en-US" sz="1900" b="1" dirty="0" err="1">
                <a:solidFill>
                  <a:srgbClr val="3B4546"/>
                </a:solidFill>
                <a:latin typeface="Arial"/>
                <a:cs typeface="Arial"/>
              </a:rPr>
              <a:t>Kolisetti</a:t>
            </a:r>
            <a:r>
              <a:rPr lang="en-US" sz="1900" b="1" dirty="0">
                <a:solidFill>
                  <a:srgbClr val="3B4546"/>
                </a:solidFill>
                <a:latin typeface="Arial"/>
                <a:cs typeface="Arial"/>
              </a:rPr>
              <a:t> – Business Analyst</a:t>
            </a:r>
            <a:endParaRPr lang="en-US" sz="1900" b="1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3B4546"/>
                </a:solidFill>
                <a:latin typeface="Arial"/>
                <a:cs typeface="Arial"/>
              </a:rPr>
              <a:t>Ms. Priya Nair – UI/UX Designer</a:t>
            </a:r>
            <a:endParaRPr lang="en-US" sz="1900" b="1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3B4546"/>
                </a:solidFill>
                <a:latin typeface="Arial"/>
                <a:cs typeface="Arial"/>
              </a:rPr>
              <a:t>Mr. Ankit Verma, Mr. Aditya Rao – Developers</a:t>
            </a:r>
            <a:endParaRPr lang="en-US" sz="1900" b="1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3B4546"/>
                </a:solidFill>
                <a:latin typeface="Arial"/>
                <a:cs typeface="Arial"/>
              </a:rPr>
              <a:t>Mr. Rohit Mehta – Database Administrator</a:t>
            </a:r>
            <a:endParaRPr lang="en-US" sz="1900" b="1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3B4546"/>
                </a:solidFill>
                <a:latin typeface="Arial"/>
                <a:cs typeface="Arial"/>
              </a:rPr>
              <a:t>Ms. Sneha Patel – QA Tester</a:t>
            </a:r>
            <a:endParaRPr lang="en-US" sz="1900" b="1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3B4546"/>
                </a:solidFill>
                <a:latin typeface="Arial"/>
                <a:cs typeface="Arial"/>
              </a:rPr>
              <a:t>Mr. Deepak Singh – IT Support Engineer</a:t>
            </a:r>
            <a:endParaRPr lang="en-US" sz="1900" b="1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3B4546"/>
                </a:solidFill>
                <a:latin typeface="Arial"/>
                <a:cs typeface="Arial"/>
              </a:rPr>
              <a:t>Mr. Suresh Kumar – Client Representative</a:t>
            </a:r>
          </a:p>
          <a:p>
            <a:pPr marL="0" indent="0">
              <a:buNone/>
            </a:pPr>
            <a:endParaRPr lang="en-US" sz="19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19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19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19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19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19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19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19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1900" b="1" dirty="0">
              <a:solidFill>
                <a:srgbClr val="3B4546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3B4546"/>
                </a:solidFill>
                <a:latin typeface="Arial"/>
                <a:cs typeface="Arial"/>
              </a:rPr>
              <a:t> (Store Operations)</a:t>
            </a:r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9804E48-D44D-C8A3-0944-D8913675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54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16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896D5EE-FE21-3804-092C-6CEAA6B2B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2" y="329072"/>
            <a:ext cx="5012045" cy="73335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Resources:</a:t>
            </a:r>
            <a:endParaRPr lang="en-US" sz="4800" kern="1200" dirty="0">
              <a:solidFill>
                <a:schemeClr val="tx1"/>
              </a:solidFill>
              <a:latin typeface="+mj-lt"/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329474-CBB7-064D-0D80-9C00B5849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039513" y="4033684"/>
            <a:ext cx="3657600" cy="64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sz="1000" kern="1200" noProof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150AD7-049F-320E-0C4D-3F38945B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272" y="6217920"/>
            <a:ext cx="640080" cy="64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5BFCF61C-3B18-4C03-8326-CC3B32D710C9}" type="slidenum">
              <a:rPr lang="en-US" sz="1600" noProof="0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11</a:t>
            </a:fld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2CD67B-B084-367B-8B9C-724144863A0F}"/>
              </a:ext>
            </a:extLst>
          </p:cNvPr>
          <p:cNvSpPr txBox="1"/>
          <p:nvPr/>
        </p:nvSpPr>
        <p:spPr>
          <a:xfrm>
            <a:off x="719147" y="1824069"/>
            <a:ext cx="10759494" cy="25234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00" b="1" dirty="0">
                <a:solidFill>
                  <a:srgbClr val="3B4546"/>
                </a:solidFill>
                <a:cs typeface="Arial"/>
              </a:rPr>
              <a:t>Time – Implementation within 6 months, including all Waterfall phases:</a:t>
            </a:r>
            <a:endParaRPr lang="en-US" sz="1900" dirty="0">
              <a:solidFill>
                <a:srgbClr val="000000"/>
              </a:solidFill>
              <a:cs typeface="Arial"/>
            </a:endParaRPr>
          </a:p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lang="en-US" sz="1900" b="1" dirty="0">
                <a:solidFill>
                  <a:srgbClr val="3B4546"/>
                </a:solidFill>
                <a:cs typeface="Arial"/>
              </a:rPr>
              <a:t>Requirement Analysis (1 month)</a:t>
            </a:r>
            <a:endParaRPr lang="en-US" sz="1900" dirty="0">
              <a:cs typeface="Arial"/>
            </a:endParaRPr>
          </a:p>
          <a:p>
            <a:pPr marL="283210" indent="-283210">
              <a:lnSpc>
                <a:spcPct val="150000"/>
              </a:lnSpc>
              <a:buFont typeface="Wingdings"/>
              <a:buChar char="Ø"/>
            </a:pPr>
            <a:r>
              <a:rPr lang="en-US" sz="1900" b="1" dirty="0">
                <a:solidFill>
                  <a:srgbClr val="3B4546"/>
                </a:solidFill>
                <a:cs typeface="Arial"/>
              </a:rPr>
              <a:t>System Design (1 month)</a:t>
            </a:r>
            <a:endParaRPr lang="en-US" sz="1900" dirty="0">
              <a:cs typeface="Arial"/>
            </a:endParaRPr>
          </a:p>
          <a:p>
            <a:pPr marL="283210" indent="-283210">
              <a:lnSpc>
                <a:spcPct val="150000"/>
              </a:lnSpc>
              <a:buFont typeface="Wingdings"/>
              <a:buChar char="Ø"/>
            </a:pPr>
            <a:r>
              <a:rPr lang="en-US" sz="1900" b="1" dirty="0">
                <a:solidFill>
                  <a:srgbClr val="3B4546"/>
                </a:solidFill>
                <a:cs typeface="Arial"/>
              </a:rPr>
              <a:t>Development (2 months)</a:t>
            </a:r>
            <a:endParaRPr lang="en-US" sz="1900" dirty="0">
              <a:cs typeface="Arial"/>
            </a:endParaRPr>
          </a:p>
          <a:p>
            <a:pPr marL="283210" indent="-283210">
              <a:lnSpc>
                <a:spcPct val="150000"/>
              </a:lnSpc>
              <a:buFont typeface="Wingdings"/>
              <a:buChar char="Ø"/>
            </a:pPr>
            <a:r>
              <a:rPr lang="en-US" sz="1900" b="1" dirty="0">
                <a:solidFill>
                  <a:srgbClr val="3B4546"/>
                </a:solidFill>
                <a:cs typeface="Arial"/>
              </a:rPr>
              <a:t>Testing (1 month)</a:t>
            </a:r>
            <a:endParaRPr lang="en-US" sz="1900" dirty="0">
              <a:cs typeface="Arial"/>
            </a:endParaRPr>
          </a:p>
          <a:p>
            <a:pPr marL="283210" indent="-283210">
              <a:lnSpc>
                <a:spcPct val="150000"/>
              </a:lnSpc>
              <a:buFont typeface="Wingdings"/>
              <a:buChar char="Ø"/>
            </a:pPr>
            <a:r>
              <a:rPr lang="en-US" sz="1900" b="1" dirty="0">
                <a:solidFill>
                  <a:srgbClr val="3B4546"/>
                </a:solidFill>
                <a:cs typeface="Arial"/>
              </a:rPr>
              <a:t>Deployment &amp; Training (1 month)</a:t>
            </a:r>
            <a:endParaRPr lang="en-GB" dirty="0"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485264-D40F-9F1B-61A0-B74BA7A47E53}"/>
              </a:ext>
            </a:extLst>
          </p:cNvPr>
          <p:cNvSpPr txBox="1"/>
          <p:nvPr/>
        </p:nvSpPr>
        <p:spPr>
          <a:xfrm>
            <a:off x="780768" y="4676925"/>
            <a:ext cx="102809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ea typeface="+mn-lt"/>
                <a:cs typeface="+mn-lt"/>
              </a:rPr>
              <a:t>Budget</a:t>
            </a:r>
            <a:r>
              <a:rPr lang="en-GB" dirty="0">
                <a:ea typeface="+mn-lt"/>
                <a:cs typeface="+mn-lt"/>
              </a:rPr>
              <a:t> – Hardware, software, training, and professional services </a:t>
            </a:r>
            <a:r>
              <a:rPr lang="en-GB" b="1" dirty="0">
                <a:ea typeface="+mn-lt"/>
                <a:cs typeface="+mn-lt"/>
              </a:rPr>
              <a:t>not to exceed ₹1CR.</a:t>
            </a:r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937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F6559-6044-67E4-2C11-EF1F2DCD8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Slide Background Fill">
            <a:extLst>
              <a:ext uri="{FF2B5EF4-FFF2-40B4-BE49-F238E27FC236}">
                <a16:creationId xmlns:a16="http://schemas.microsoft.com/office/drawing/2014/main" id="{99AFD4BE-B919-25F7-CFB1-7AF0A5EDF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6A774B2-AB41-D203-A19D-B2D425625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64E733E7-3A54-32F9-F635-D872A2B39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EDE2B0D8-152D-3723-7B20-57CF4348E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4F86AEA-8913-3B97-4DB9-F922FFDDD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28367EF-D018-BB9B-B7E7-72C5DFF3D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16">
              <a:extLst>
                <a:ext uri="{FF2B5EF4-FFF2-40B4-BE49-F238E27FC236}">
                  <a16:creationId xmlns:a16="http://schemas.microsoft.com/office/drawing/2014/main" id="{651C0283-59B6-B1C9-2A97-979587146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D70DC5-6BB4-806D-3C8F-60CC3DC2A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71A16C2-FE8A-2A76-6764-890902A219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A2FE6B-64F4-A055-202D-93AC8C12FF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40717A4-CFFF-F907-B690-69BE7694A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5421CF2-77CB-BF98-92B4-B2584363B3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E80D10AF-5D31-EC4F-B0C8-465BBD02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2" y="329072"/>
            <a:ext cx="10770766" cy="73335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4800" dirty="0">
                <a:solidFill>
                  <a:schemeClr val="tx1"/>
                </a:solidFill>
                <a:ea typeface="+mj-lt"/>
                <a:cs typeface="+mj-lt"/>
              </a:rPr>
              <a:t>Risks </a:t>
            </a:r>
            <a:endParaRPr lang="en-US" sz="4800" kern="1200" dirty="0">
              <a:solidFill>
                <a:schemeClr val="tx1"/>
              </a:solidFill>
              <a:latin typeface="+mj-lt"/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5EBF35-1B42-2868-0A8F-DF083303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039513" y="4033684"/>
            <a:ext cx="3657600" cy="64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sz="1000" kern="1200" noProof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9ABCE-C329-4356-0EAC-F4DAD15F6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272" y="6217920"/>
            <a:ext cx="640080" cy="64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5BFCF61C-3B18-4C03-8326-CC3B32D710C9}" type="slidenum">
              <a:rPr lang="en-US" sz="1600" noProof="0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12</a:t>
            </a:fld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97C0DF-8FC9-972E-CDE8-F52F937E4B59}"/>
              </a:ext>
            </a:extLst>
          </p:cNvPr>
          <p:cNvSpPr txBox="1"/>
          <p:nvPr/>
        </p:nvSpPr>
        <p:spPr>
          <a:xfrm>
            <a:off x="794098" y="1572110"/>
            <a:ext cx="10759494" cy="41088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User resistance due to reliance on legacy manual processes.</a:t>
            </a:r>
            <a:endParaRPr lang="en-US" dirty="0">
              <a:cs typeface="Arial"/>
            </a:endParaRPr>
          </a:p>
          <a:p>
            <a:pPr marL="457200" indent="-457200">
              <a:buFont typeface="Wingdings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Data migration risks from old spreadsheets to the new system.</a:t>
            </a:r>
            <a:endParaRPr lang="en-US" dirty="0">
              <a:cs typeface="Arial"/>
            </a:endParaRPr>
          </a:p>
          <a:p>
            <a:pPr marL="457200" indent="-457200">
              <a:buFont typeface="Wingdings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Potential downtime during transition or deployment phase.</a:t>
            </a:r>
          </a:p>
          <a:p>
            <a:pPr marL="457200" indent="-457200">
              <a:buFont typeface="Wingdings"/>
              <a:buChar char="Ø"/>
            </a:pPr>
            <a:r>
              <a:rPr lang="en-IN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Budget Constraints.</a:t>
            </a:r>
          </a:p>
          <a:p>
            <a:pPr marL="457200" indent="-457200">
              <a:buFont typeface="Wingdings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While switching from manual to online, there might be temporary downtime.</a:t>
            </a:r>
          </a:p>
          <a:p>
            <a:pPr marL="457200" indent="-457200">
              <a:buFont typeface="Wingdings"/>
              <a:buChar char="Ø"/>
            </a:pPr>
            <a:endParaRPr lang="en-US" dirty="0">
              <a:cs typeface="Arial"/>
            </a:endParaRPr>
          </a:p>
          <a:p>
            <a:endParaRPr lang="en-US" sz="1900" b="1" dirty="0">
              <a:solidFill>
                <a:srgbClr val="3B4546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7602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F6559-6044-67E4-2C11-EF1F2DCD8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Slide Background Fill">
            <a:extLst>
              <a:ext uri="{FF2B5EF4-FFF2-40B4-BE49-F238E27FC236}">
                <a16:creationId xmlns:a16="http://schemas.microsoft.com/office/drawing/2014/main" id="{99AFD4BE-B919-25F7-CFB1-7AF0A5EDF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6A774B2-AB41-D203-A19D-B2D425625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64E733E7-3A54-32F9-F635-D872A2B39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EDE2B0D8-152D-3723-7B20-57CF4348E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4F86AEA-8913-3B97-4DB9-F922FFDDD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28367EF-D018-BB9B-B7E7-72C5DFF3D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16">
              <a:extLst>
                <a:ext uri="{FF2B5EF4-FFF2-40B4-BE49-F238E27FC236}">
                  <a16:creationId xmlns:a16="http://schemas.microsoft.com/office/drawing/2014/main" id="{651C0283-59B6-B1C9-2A97-979587146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D70DC5-6BB4-806D-3C8F-60CC3DC2A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71A16C2-FE8A-2A76-6764-890902A219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A2FE6B-64F4-A055-202D-93AC8C12FF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40717A4-CFFF-F907-B690-69BE7694A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5421CF2-77CB-BF98-92B4-B2584363B3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E80D10AF-5D31-EC4F-B0C8-465BBD02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2" y="329072"/>
            <a:ext cx="10770766" cy="73335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4800" dirty="0">
                <a:solidFill>
                  <a:schemeClr val="tx1"/>
                </a:solidFill>
                <a:ea typeface="+mj-lt"/>
                <a:cs typeface="+mj-lt"/>
              </a:rPr>
              <a:t>Dependencies</a:t>
            </a:r>
            <a:endParaRPr lang="en-US" sz="4800" kern="1200" dirty="0">
              <a:solidFill>
                <a:schemeClr val="tx1"/>
              </a:solidFill>
              <a:latin typeface="+mj-lt"/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5EBF35-1B42-2868-0A8F-DF083303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039513" y="4033684"/>
            <a:ext cx="3657600" cy="64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sz="1000" kern="1200" noProof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9ABCE-C329-4356-0EAC-F4DAD15F6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272" y="6217920"/>
            <a:ext cx="640080" cy="64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5BFCF61C-3B18-4C03-8326-CC3B32D710C9}" type="slidenum">
              <a:rPr lang="en-US" sz="1600" noProof="0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13</a:t>
            </a:fld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97C0DF-8FC9-972E-CDE8-F52F937E4B59}"/>
              </a:ext>
            </a:extLst>
          </p:cNvPr>
          <p:cNvSpPr txBox="1"/>
          <p:nvPr/>
        </p:nvSpPr>
        <p:spPr>
          <a:xfrm>
            <a:off x="794098" y="1549250"/>
            <a:ext cx="10759494" cy="55861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Dependency on vendor support for post-go-live maintenance and updates.</a:t>
            </a:r>
          </a:p>
          <a:p>
            <a:pPr marL="457200" indent="-457200">
              <a:buFont typeface="Wingdings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Budget constraints or delays in third-party payment gateway integration.</a:t>
            </a:r>
          </a:p>
          <a:p>
            <a:pPr marL="457200" indent="-457200">
              <a:buFont typeface="Wingdings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Payment gateway provider The project depends on the successful integration of an external payment gateway (</a:t>
            </a:r>
            <a:r>
              <a:rPr lang="en-US" sz="32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Razorpay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sz="32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PayU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).</a:t>
            </a:r>
          </a:p>
          <a:p>
            <a:pPr marL="457200" indent="-457200">
              <a:buFont typeface="Wingdings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Third-party tools any modules like SMS notifications, email alerts, or delivery tracking depend on external services.</a:t>
            </a:r>
          </a:p>
          <a:p>
            <a:pPr marL="457200" indent="-457200">
              <a:buFont typeface="Wingdings"/>
              <a:buChar char="Ø"/>
            </a:pPr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Font typeface="Wingdings"/>
              <a:buChar char="Ø"/>
            </a:pPr>
            <a:endParaRPr lang="en-US" dirty="0">
              <a:cs typeface="Arial"/>
            </a:endParaRPr>
          </a:p>
          <a:p>
            <a:endParaRPr lang="en-US" sz="1900" b="1" dirty="0">
              <a:solidFill>
                <a:srgbClr val="3B4546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8860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E563-D2B2-A0AD-3574-E8C8FDCE3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5330" y="3389026"/>
            <a:ext cx="4846320" cy="1682749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300" b="1" dirty="0"/>
              <a:t>Project  Approval</a:t>
            </a:r>
            <a:endParaRPr lang="en-US" sz="3300" dirty="0">
              <a:solidFill>
                <a:srgbClr val="000000"/>
              </a:solidFill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83AAE15-CE16-991A-C05F-0BD97418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775342-B398-D058-62EA-D657A2192D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449" y="942781"/>
            <a:ext cx="4754880" cy="63671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en-US" b="1" dirty="0"/>
              <a:t>Project Sponsor Approval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Name:</a:t>
            </a:r>
            <a:r>
              <a:rPr lang="en-US" dirty="0">
                <a:ea typeface="+mn-lt"/>
                <a:cs typeface="+mn-lt"/>
              </a:rPr>
              <a:t> Mr. Ramesh Iyer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Designation:</a:t>
            </a:r>
            <a:r>
              <a:rPr lang="en-US" dirty="0">
                <a:ea typeface="+mn-lt"/>
                <a:cs typeface="+mn-lt"/>
              </a:rPr>
              <a:t> Project Sponsor / Business Director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Department:</a:t>
            </a:r>
            <a:r>
              <a:rPr lang="en-US" dirty="0">
                <a:ea typeface="+mn-lt"/>
                <a:cs typeface="+mn-lt"/>
              </a:rPr>
              <a:t> Client Operations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Signature:</a:t>
            </a:r>
            <a:r>
              <a:rPr lang="en-US" dirty="0">
                <a:ea typeface="+mn-lt"/>
                <a:cs typeface="+mn-lt"/>
              </a:rPr>
              <a:t> ___________________________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Date:</a:t>
            </a:r>
            <a:r>
              <a:rPr lang="en-US" dirty="0">
                <a:ea typeface="+mn-lt"/>
                <a:cs typeface="+mn-lt"/>
              </a:rPr>
              <a:t> _______________________________</a:t>
            </a:r>
            <a:endParaRPr lang="en-US" dirty="0">
              <a:cs typeface="Arial"/>
            </a:endParaRPr>
          </a:p>
          <a:p>
            <a:pPr marL="283210" indent="-283210"/>
            <a:endParaRPr lang="en-US" dirty="0"/>
          </a:p>
          <a:p>
            <a:pPr marL="283210" indent="-283210"/>
            <a:r>
              <a:rPr lang="en-US" b="1" dirty="0"/>
              <a:t>Project Manager Approval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Name:</a:t>
            </a:r>
            <a:r>
              <a:rPr lang="en-US" dirty="0">
                <a:ea typeface="+mn-lt"/>
                <a:cs typeface="+mn-lt"/>
              </a:rPr>
              <a:t> Ms. Neha Sharma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Designation:</a:t>
            </a:r>
            <a:r>
              <a:rPr lang="en-US" dirty="0">
                <a:ea typeface="+mn-lt"/>
                <a:cs typeface="+mn-lt"/>
              </a:rPr>
              <a:t> Project Manager – IT Solutions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Department:</a:t>
            </a:r>
            <a:r>
              <a:rPr lang="en-US" dirty="0">
                <a:ea typeface="+mn-lt"/>
                <a:cs typeface="+mn-lt"/>
              </a:rPr>
              <a:t> Information Technology Services (ITS)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Signature:</a:t>
            </a:r>
            <a:r>
              <a:rPr lang="en-US" dirty="0">
                <a:ea typeface="+mn-lt"/>
                <a:cs typeface="+mn-lt"/>
              </a:rPr>
              <a:t> ___________________________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Date:</a:t>
            </a:r>
            <a:r>
              <a:rPr lang="en-US" dirty="0">
                <a:ea typeface="+mn-lt"/>
                <a:cs typeface="+mn-lt"/>
              </a:rPr>
              <a:t> _______________________________</a:t>
            </a:r>
            <a:endParaRPr lang="en-US" dirty="0">
              <a:cs typeface="Arial"/>
            </a:endParaRPr>
          </a:p>
          <a:p>
            <a:pPr marL="283210" indent="-283210"/>
            <a:endParaRPr lang="en-US" dirty="0">
              <a:cs typeface="Arial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54CCA8-9E58-39CC-C428-F4B1934869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endParaRPr lang="en-US" dirty="0">
              <a:cs typeface="Arial"/>
            </a:endParaRPr>
          </a:p>
          <a:p>
            <a:pPr marL="283210" indent="-283210"/>
            <a:endParaRPr lang="en-US" dirty="0">
              <a:cs typeface="Arial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B66A1BD-2500-AB18-9DCA-0585F33C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8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4AE1-C6FD-2EFB-79A7-7C9A6C853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916" y="3081843"/>
            <a:ext cx="8238533" cy="1059058"/>
          </a:xfrm>
        </p:spPr>
        <p:txBody>
          <a:bodyPr/>
          <a:lstStyle/>
          <a:p>
            <a:r>
              <a:rPr lang="en-US" dirty="0"/>
              <a:t>Thank You</a:t>
            </a:r>
          </a:p>
        </p:txBody>
      </p:sp>
    </p:spTree>
    <p:extLst>
      <p:ext uri="{BB962C8B-B14F-4D97-AF65-F5344CB8AC3E}">
        <p14:creationId xmlns:p14="http://schemas.microsoft.com/office/powerpoint/2010/main" val="22623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2" id="{5D6FBA16-B4D1-4307-B1D7-61285FA0D9C0}" vid="{1DA9E459-46CB-4408-AA4C-63950E2E54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83CE7D-BFC6-4030-A335-E7F88DB664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1F98F7-6576-47F1-AD63-56E26C33974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5B4CAA5-BE7A-46AB-97ED-63B24C46A3A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994</Words>
  <Application>Microsoft Office PowerPoint</Application>
  <PresentationFormat>Widescreen</PresentationFormat>
  <Paragraphs>126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Project Title: Online Product Ordering and Inventory System  Prepared By: Kolisetti Gopi Chandu  Date: 09 DECEMBER 2025</vt:lpstr>
      <vt:lpstr>Situation</vt:lpstr>
      <vt:lpstr>Problem</vt:lpstr>
      <vt:lpstr>Opportunity</vt:lpstr>
      <vt:lpstr>Purpose Statement(Goals)</vt:lpstr>
      <vt:lpstr>Project Objectives</vt:lpstr>
      <vt:lpstr>Success Criteria </vt:lpstr>
      <vt:lpstr>Methods/Approach:</vt:lpstr>
      <vt:lpstr>Methods/Approach:</vt:lpstr>
      <vt:lpstr>Resources:</vt:lpstr>
      <vt:lpstr>Resources:</vt:lpstr>
      <vt:lpstr>Risks </vt:lpstr>
      <vt:lpstr>Dependencies</vt:lpstr>
      <vt:lpstr>Project  Approval </vt:lpstr>
      <vt:lpstr>Thank 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gopikolisetti</dc:creator>
  <cp:lastModifiedBy>Gopi Chandu kolisetti</cp:lastModifiedBy>
  <cp:revision>666</cp:revision>
  <dcterms:created xsi:type="dcterms:W3CDTF">2025-10-29T09:34:34Z</dcterms:created>
  <dcterms:modified xsi:type="dcterms:W3CDTF">2026-08-18T16:48:18Z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